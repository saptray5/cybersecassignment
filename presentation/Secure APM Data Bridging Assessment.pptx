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4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4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4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4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4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4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887" y="1885950"/>
            <a:ext cx="4086225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937" y="3876675"/>
            <a:ext cx="4048125" cy="1095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410325"/>
            <a:ext cx="1102995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55444" y="2371725"/>
            <a:ext cx="888111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b="1" sz="3900" i="0" u="none">
                <a:solidFill>
                  <a:srgbClr val="F8FAFC"/>
                </a:solidFill>
                <a:latin typeface="Poppins"/>
              </a:rPr>
              <a:t>Secure APM Data Bridging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6900" y="3181350"/>
            <a:ext cx="8458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38BDF8"/>
                </a:solidFill>
                <a:latin typeface="Lato Light"/>
              </a:rPr>
              <a:t>Cross-Domain Application Performance Monitoring: Security Assessment &amp; Mitigation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6515100"/>
            <a:ext cx="29813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Lato"/>
              </a:rPr>
              <a:t>Work Integrated Learning Programmes Division - BITS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6950" y="6515100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Lato"/>
              </a:rPr>
              <a:t>CONFIDENTIAL &amp; PROPRIETARY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4812" y="1971675"/>
            <a:ext cx="138112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2462" y="4076700"/>
            <a:ext cx="32670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94A3B8"/>
                </a:solidFill>
                <a:latin typeface="Lato"/>
              </a:rPr>
              <a:t>Course:</a:t>
            </a:r>
            <a:r>
              <a:rPr b="0" sz="1050" i="0" u="none">
                <a:solidFill>
                  <a:srgbClr val="94A3B8"/>
                </a:solidFill>
                <a:latin typeface="Lato"/>
              </a:rPr>
              <a:t> SS ZG681 / SE ZG681 Advanced Cyber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462" y="4324350"/>
            <a:ext cx="32670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94A3B8"/>
                </a:solidFill>
                <a:latin typeface="Lato"/>
              </a:rPr>
              <a:t>Authors:</a:t>
            </a:r>
            <a:r>
              <a:rPr b="0" sz="1050" i="0" u="none">
                <a:solidFill>
                  <a:srgbClr val="94A3B8"/>
                </a:solidFill>
                <a:latin typeface="Lato"/>
              </a:rPr>
              <a:t> Saptarsi Roy &amp; Girish Amrutesh Joshi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462" y="4572000"/>
            <a:ext cx="32670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94A3B8"/>
                </a:solidFill>
                <a:latin typeface="Lato"/>
              </a:rPr>
              <a:t>Focus System:</a:t>
            </a:r>
            <a:r>
              <a:rPr b="0" sz="1050" i="0" u="none">
                <a:solidFill>
                  <a:srgbClr val="94A3B8"/>
                </a:solidFill>
                <a:latin typeface="Lato"/>
              </a:rPr>
              <a:t> DMZ-to-LAN APM 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66962"/>
            <a:ext cx="5372100" cy="2981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66962"/>
            <a:ext cx="5372100" cy="2981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3052762"/>
            <a:ext cx="489585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3776662"/>
            <a:ext cx="489585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4500562"/>
            <a:ext cx="489585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6410325"/>
            <a:ext cx="1102995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595312"/>
            <a:ext cx="328612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6515100"/>
            <a:ext cx="2200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DMZ-to-LAN APM Bridge Security Blueprint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87125" y="6515100"/>
            <a:ext cx="323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Slide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2605087"/>
            <a:ext cx="478059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System Architecture &amp;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005137"/>
            <a:ext cx="4867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The system bridges real-time observability data from customer-facing web applications hosted in the DMZ to the internal core 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2605087"/>
            <a:ext cx="484060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Business Function &amp; Objectives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2652712"/>
            <a:ext cx="21907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500" y="3671887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3671887"/>
            <a:ext cx="4676775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Lato"/>
              </a:rPr>
              <a:t>DMZ Zone: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Collects performance metrics &amp; trace headers via lightweight probes.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205287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4205287"/>
            <a:ext cx="4676775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Lato"/>
              </a:rPr>
              <a:t>Firewall Conduit: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Restricts traffic strictly to HTTPS/TLS 1.3 (Port 443) push streams.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738687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" y="4738687"/>
            <a:ext cx="4676775" cy="228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Lato"/>
              </a:rPr>
              <a:t>Core LAN: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Houses the APM Ingestion Engine and Telemetry Databases.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2652712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00825" y="3176587"/>
            <a:ext cx="14763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Lato"/>
              </a:rPr>
              <a:t>Real-time Availability: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825" y="3900487"/>
            <a:ext cx="15525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Lato"/>
              </a:rPr>
              <a:t>Latency &amp; Throughput: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0825" y="4624387"/>
            <a:ext cx="12382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Lato"/>
              </a:rPr>
              <a:t>Risk Containment: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937" y="485775"/>
            <a:ext cx="11116389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DMZ-to-LAN APM System Overview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00275"/>
            <a:ext cx="5372100" cy="3314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200275"/>
            <a:ext cx="5372100" cy="3314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838450"/>
            <a:ext cx="4895850" cy="1847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838450"/>
            <a:ext cx="4895850" cy="1695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6410325"/>
            <a:ext cx="110299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595312"/>
            <a:ext cx="300037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6515100"/>
            <a:ext cx="2200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DMZ-to-LAN APM Bridge Security 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87125" y="6515100"/>
            <a:ext cx="323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Slide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2438400"/>
            <a:ext cx="479059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Level 1: System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4876800"/>
            <a:ext cx="4895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Lato"/>
              </a:rPr>
              <a:t>Establishes external actors, primary monitoring stakeholders, and key cross-domain entry points.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2438400"/>
            <a:ext cx="481060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Level 2: Container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4724400"/>
            <a:ext cx="4895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Lato"/>
              </a:rPr>
              <a:t>Highlights container boundaries, network conduits, and trusted internal processing services.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2486025"/>
            <a:ext cx="23812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1075" y="3000375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A855F7"/>
                </a:solidFill>
                <a:latin typeface="monospace"/>
              </a:rPr>
              <a:t>[SRE / NOC] &amp; [Security Analysts]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3267075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monospace"/>
              </a:rPr>
              <a:t>│ Views dashboards &amp; audits 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" y="3533775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monospace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3762375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6B6D4"/>
                </a:solidFill>
                <a:latin typeface="monospace"/>
              </a:rPr>
              <a:t>[DMZ-to-LAN APM Bridge]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" y="4029075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monospace"/>
              </a:rPr>
              <a:t>▲ Pushes telemetry (HTTPS/443)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075" y="4295775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2C55E"/>
                </a:solidFill>
                <a:latin typeface="monospace"/>
              </a:rPr>
              <a:t>[DMZ Web Applications]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2486025"/>
            <a:ext cx="219075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38925" y="3000375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E2E8F0"/>
                </a:solidFill>
                <a:latin typeface="monospace"/>
              </a:rPr>
              <a:t>[DMZ APM Probe Agent]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925" y="3228975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8BDF8"/>
                </a:solidFill>
                <a:latin typeface="monospace"/>
              </a:rPr>
              <a:t>└──&gt; (HTTPS / mTLS Port 443 PUSH)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925" y="3457575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43F5E"/>
                </a:solidFill>
                <a:latin typeface="monospace"/>
              </a:rPr>
              <a:t>[Firewall Conduit / Data Diode]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925" y="3686175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8BDF8"/>
                </a:solidFill>
                <a:latin typeface="monospace"/>
              </a:rPr>
              <a:t>└──&gt; [APM Ingestion Service (LAN)]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925" y="3914775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2C55E"/>
                </a:solidFill>
                <a:latin typeface="monospace"/>
              </a:rPr>
              <a:t>├──&gt; [APM Processing Engine]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925" y="4143375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2C55E"/>
                </a:solidFill>
                <a:latin typeface="monospace"/>
              </a:rPr>
              <a:t>└──&gt; [Telemetry TSDB / Database]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362" y="485775"/>
            <a:ext cx="11146393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C4 Architecture Model (Levels 1 &amp; 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410325"/>
            <a:ext cx="110299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95312"/>
            <a:ext cx="261937" cy="2667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2509837"/>
          <a:ext cx="11029948" cy="2790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20912"/>
                <a:gridCol w="1550342"/>
                <a:gridCol w="2268289"/>
                <a:gridCol w="1893689"/>
                <a:gridCol w="3496716"/>
              </a:tblGrid>
              <a:tr h="558165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Data Element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Classification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Compliance Relevance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CIA Impact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Handling Controls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5816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Lato"/>
                        </a:rPr>
                        <a:t>Performance Metrics</a:t>
                      </a:r>
                      <a: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CPU, RAM, latency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Internal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SLA Agreements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Lato"/>
                        </a:rPr>
                        <a:t>I: High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, A: Med, C: 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TLS 1.3 transit encryption, standard retention.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16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Lato"/>
                        </a:rPr>
                        <a:t>System Metadata</a:t>
                      </a:r>
                      <a: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Hostnames, internal IPs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Restricted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Internal Security Policy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Lato"/>
                        </a:rPr>
                        <a:t>C: Med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, I: High, A: 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Masked in non-admin views, query limits.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5816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Lato"/>
                        </a:rPr>
                        <a:t>Trace Headers</a:t>
                      </a:r>
                      <a: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HTTP headers, URLs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Confidential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GDPR / Privacy Laws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Lato"/>
                        </a:rPr>
                        <a:t>C: High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, I: High, A: 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Regex PII redaction prior to database write.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16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Lato"/>
                        </a:rPr>
                        <a:t>Security Audit Logs</a:t>
                      </a:r>
                      <a: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FIM, mTLS logs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Restricted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SOC 2 / ISO 27001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Lato"/>
                        </a:rPr>
                        <a:t>I: High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, C: Med, A: Med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Lato"/>
                        </a:rPr>
                        <a:t>Immutable storage, SIEM integration.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1025" y="6515100"/>
            <a:ext cx="2200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DMZ-to-LAN APM Bridge Security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7125" y="6515100"/>
            <a:ext cx="323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Slide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025" y="2947987"/>
            <a:ext cx="1820912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01937" y="2947987"/>
            <a:ext cx="1550342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52279" y="2947987"/>
            <a:ext cx="2268289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0569" y="2947987"/>
            <a:ext cx="1893689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4258" y="2947987"/>
            <a:ext cx="3496716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3543300"/>
            <a:ext cx="18209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01937" y="3543300"/>
            <a:ext cx="155034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52279" y="3543300"/>
            <a:ext cx="226828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0569" y="3543300"/>
            <a:ext cx="189368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4258" y="3543300"/>
            <a:ext cx="349671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1025" y="4124325"/>
            <a:ext cx="18209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01937" y="4124325"/>
            <a:ext cx="155034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52279" y="4124325"/>
            <a:ext cx="226828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0569" y="4124325"/>
            <a:ext cx="189368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4258" y="4124325"/>
            <a:ext cx="349671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1025" y="4705350"/>
            <a:ext cx="18209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01937" y="4705350"/>
            <a:ext cx="155034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52279" y="4705350"/>
            <a:ext cx="226828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0569" y="4705350"/>
            <a:ext cx="189368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4258" y="4705350"/>
            <a:ext cx="349671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1025" y="5286375"/>
            <a:ext cx="18209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01937" y="5286375"/>
            <a:ext cx="155034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52279" y="5286375"/>
            <a:ext cx="226828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0569" y="5286375"/>
            <a:ext cx="189368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4258" y="5286375"/>
            <a:ext cx="349671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4337" y="3090862"/>
            <a:ext cx="809625" cy="2381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4337" y="3671887"/>
            <a:ext cx="933450" cy="2381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4337" y="4252912"/>
            <a:ext cx="1114425" cy="2381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4337" y="4833937"/>
            <a:ext cx="933450" cy="2381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57262" y="485775"/>
            <a:ext cx="11186398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Data Classification &amp; CIA Matrix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38400"/>
            <a:ext cx="5372100" cy="2838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38400"/>
            <a:ext cx="5372100" cy="2838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3076575"/>
            <a:ext cx="4895850" cy="1466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743325"/>
            <a:ext cx="4867275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4429125"/>
            <a:ext cx="4867275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6410325"/>
            <a:ext cx="1102995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595312"/>
            <a:ext cx="261937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6515100"/>
            <a:ext cx="2200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DMZ-to-LAN APM Bridge Security Blueprint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87125" y="6515100"/>
            <a:ext cx="323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Slide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475" y="2676525"/>
            <a:ext cx="481060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Threat Summary &amp; Attack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076575"/>
            <a:ext cx="4867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Lato"/>
              </a:rPr>
              <a:t>Vector: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External Attacker → Exploit DMZ Web Vulnerability → Compromise Probe → Tunnel to Internal 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2676525"/>
            <a:ext cx="484060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Attack Progression Sequence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2724150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2724150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38925" y="32385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43F5E"/>
                </a:solidFill>
                <a:latin typeface="monospace"/>
              </a:rPr>
              <a:t>1. Recon &amp; Initial Access (RCE on DMZ Web Node)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925" y="34671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B7185"/>
                </a:solidFill>
                <a:latin typeface="monospace"/>
              </a:rPr>
              <a:t>└──&gt; 2. Discover local APM Agent &amp; active socket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925" y="36957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BBF24"/>
                </a:solidFill>
                <a:latin typeface="monospace"/>
              </a:rPr>
              <a:t>└──&gt; 3. Tunnel reverse shell via monitoring 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925" y="39243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8BDF8"/>
                </a:solidFill>
                <a:latin typeface="monospace"/>
              </a:rPr>
              <a:t>└──&gt; 4. Pivot across firewall to LAN APM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41529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2C55E"/>
                </a:solidFill>
                <a:latin typeface="monospace"/>
              </a:rPr>
              <a:t>└──&gt; 5. Full internal network compromise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975" y="3838575"/>
            <a:ext cx="981075" cy="2381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2975" y="4524375"/>
            <a:ext cx="676275" cy="2381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7262" y="485775"/>
            <a:ext cx="11186398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Threat Scenario 1: Lateral Pivot Attack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38400"/>
            <a:ext cx="5372100" cy="2838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38400"/>
            <a:ext cx="5372100" cy="2838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3076575"/>
            <a:ext cx="4895850" cy="1924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743325"/>
            <a:ext cx="4867275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4429125"/>
            <a:ext cx="4867275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6410325"/>
            <a:ext cx="110299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6515100"/>
            <a:ext cx="2200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DMZ-to-LAN APM Bridge Security 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87125" y="6515100"/>
            <a:ext cx="323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Slide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475" y="2676525"/>
            <a:ext cx="481060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Threat Summary &amp; Vulnerability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076575"/>
            <a:ext cx="4867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Lato"/>
              </a:rPr>
              <a:t>Vector: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Attacker crafts malformed trace header → Transmits via TLS → Unvalidated ingestion parser triggers 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2676525"/>
            <a:ext cx="481060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Attack Chain Mechanics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2724150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2724150"/>
            <a:ext cx="21907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38925" y="32385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43F5E"/>
                </a:solidFill>
                <a:latin typeface="monospace"/>
              </a:rPr>
              <a:t>1. Embed exploit string (e.g. Log4j / SQLi) in header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925" y="36957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B7185"/>
                </a:solidFill>
                <a:latin typeface="monospace"/>
              </a:rPr>
              <a:t>└──&gt; 2. Transmit packet via legitimate HTTPS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925" y="41529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BBF24"/>
                </a:solidFill>
                <a:latin typeface="monospace"/>
              </a:rPr>
              <a:t>└──&gt; 3. Ingestion engine parses raw payload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925" y="43815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8BDF8"/>
                </a:solidFill>
                <a:latin typeface="monospace"/>
              </a:rPr>
              <a:t>└──&gt; 4. RCE payload triggers shell on DB 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925" y="46101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2C55E"/>
                </a:solidFill>
                <a:latin typeface="monospace"/>
              </a:rPr>
              <a:t>└──&gt; 5. Telemetry corrupted &amp; logs blind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975" y="3838575"/>
            <a:ext cx="981075" cy="2381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975" y="4524375"/>
            <a:ext cx="676275" cy="2381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5325" y="485775"/>
            <a:ext cx="11461432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Threat Scenario 2: Telemetry Injection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86025"/>
            <a:ext cx="5419725" cy="1276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486025"/>
            <a:ext cx="5419725" cy="1276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952875"/>
            <a:ext cx="5419725" cy="1276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3952875"/>
            <a:ext cx="5419725" cy="1276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410325"/>
            <a:ext cx="110299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95312"/>
            <a:ext cx="261937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6515100"/>
            <a:ext cx="2200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DMZ-to-LAN APM Bridge Security 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87125" y="6515100"/>
            <a:ext cx="323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Slide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475" y="2724150"/>
            <a:ext cx="486060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Layer 1: Data &amp; Crypto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124200"/>
            <a:ext cx="491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Lato"/>
              </a:rPr>
              <a:t>Mutual TLS 1.3 (mTLS) for probe authentication, AES-256 database encryption at rest, and HMAC payload signatures.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2724150"/>
            <a:ext cx="481060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Layer 2: Network Perimeter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7950" y="3124200"/>
            <a:ext cx="491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Lato"/>
              </a:rPr>
              <a:t>Unidirectional Data Diode / NGFW strict PUSH policy (DMZ to LAN only on Port 443). Absolute block on inbound LAN-to-DMZ probes.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75" y="4191000"/>
            <a:ext cx="486060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Layer 3: Host &amp;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591050"/>
            <a:ext cx="491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Lato"/>
              </a:rPr>
              <a:t>Ingestion service JSON schema validation, automated regex PII redaction, and Runtime Application Self-Protection (RASP).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1325" y="4191000"/>
            <a:ext cx="481060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Layer 4: Operations &amp;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950" y="4591050"/>
            <a:ext cx="491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Lato"/>
              </a:rPr>
              <a:t>Role-Based Access Control (RBAC), automated File Integrity Monitoring (FIM) on probes, and centralized SIEM alert streams.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771775"/>
            <a:ext cx="19050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950" y="2771775"/>
            <a:ext cx="23812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238625"/>
            <a:ext cx="19050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7950" y="4238625"/>
            <a:ext cx="238125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7262" y="485775"/>
            <a:ext cx="11186398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Layered Defense-in-Depth 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19362"/>
            <a:ext cx="5372100" cy="2676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19362"/>
            <a:ext cx="5372100" cy="2676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252787"/>
            <a:ext cx="4895850" cy="781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4176712"/>
            <a:ext cx="4895850" cy="781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6410325"/>
            <a:ext cx="110299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595312"/>
            <a:ext cx="261937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6515100"/>
            <a:ext cx="2200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DMZ-to-LAN APM Bridge Security 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87125" y="6515100"/>
            <a:ext cx="323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Slide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2757487"/>
            <a:ext cx="489061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CVSS v3.1 Risk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0375" y="2757487"/>
            <a:ext cx="479059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Architectural Gap Analysis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77000" y="3252787"/>
          <a:ext cx="4895850" cy="1609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47925"/>
                <a:gridCol w="2447925"/>
              </a:tblGrid>
              <a:tr h="402431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Current State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Target Defense State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02431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Standard TLS (Single-ended)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2C55E"/>
                          </a:solidFill>
                          <a:latin typeface="Lato"/>
                        </a:rPr>
                        <a:t>mTLS + Client Certificates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431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Plain JSON Parsing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2C55E"/>
                          </a:solidFill>
                          <a:latin typeface="Lato"/>
                        </a:rPr>
                        <a:t>Strict Schema Validation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02432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Permissive Bi-directional Firewall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2C55E"/>
                          </a:solidFill>
                          <a:latin typeface="Lato"/>
                        </a:rPr>
                        <a:t>Unidirectional PUSH Data Diode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2805112"/>
            <a:ext cx="14287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2805112"/>
            <a:ext cx="238125" cy="1905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477000" y="3662362"/>
            <a:ext cx="2447925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24925" y="3662362"/>
            <a:ext cx="2447925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3405187"/>
            <a:ext cx="459105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Lato"/>
              </a:rPr>
              <a:t>Threat 1: Lateral Pivot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3709987"/>
            <a:ext cx="4591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DA4AF"/>
                </a:solidFill>
                <a:latin typeface="Lato"/>
              </a:rPr>
              <a:t>CVSS:3.1/AV:N/AC:L/PR:N/UI:N/S:C/C:H/I:H/A:H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" y="4329112"/>
            <a:ext cx="459105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Lato"/>
              </a:rPr>
              <a:t>Threat 2: Payload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" y="4633912"/>
            <a:ext cx="4591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DE68A"/>
                </a:solidFill>
                <a:latin typeface="Lato"/>
              </a:rPr>
              <a:t>CVSS:3.1/AV:N/AC:L/PR:L/UI:N/S:U/C:H/I:H/A:H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7000" y="4067175"/>
            <a:ext cx="24479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24925" y="4067175"/>
            <a:ext cx="24479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7000" y="4457700"/>
            <a:ext cx="24479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925" y="4457700"/>
            <a:ext cx="24479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77000" y="4848225"/>
            <a:ext cx="24479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24925" y="4848225"/>
            <a:ext cx="24479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9525" y="3405187"/>
            <a:ext cx="1743075" cy="2571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48137" y="4329112"/>
            <a:ext cx="1414462" cy="2571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7262" y="485775"/>
            <a:ext cx="11186398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Risk Quantification &amp; Gap 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410325"/>
            <a:ext cx="110299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888456"/>
            <a:ext cx="3308895" cy="22240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1477" y="2888456"/>
            <a:ext cx="3308895" cy="22240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1930" y="2888456"/>
            <a:ext cx="3308895" cy="22240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95312"/>
            <a:ext cx="261937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6515100"/>
            <a:ext cx="2200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DMZ-to-LAN APM Bridge Security 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87125" y="6515100"/>
            <a:ext cx="323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Slide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2570" y="3981450"/>
            <a:ext cx="9926859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7273" y="3088481"/>
            <a:ext cx="476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4835" y="3707606"/>
            <a:ext cx="1381125" cy="238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328" y="4021931"/>
            <a:ext cx="305428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Poppins"/>
              </a:rPr>
              <a:t>Immediate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4355306"/>
            <a:ext cx="290884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Lato"/>
              </a:rPr>
              <a:t>Reconfigure firewall rules for strict outbound PUSH on Port 443 and implement DMZ probe IP whitelisting.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7726" y="3088481"/>
            <a:ext cx="476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6232" y="3707606"/>
            <a:ext cx="1519237" cy="2381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68781" y="4021931"/>
            <a:ext cx="305428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Poppins"/>
              </a:rPr>
              <a:t>Core Hardening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1502" y="4355306"/>
            <a:ext cx="290884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Lato"/>
              </a:rPr>
              <a:t>Deploy mTLS certificate infrastructure and integrate JSON schema validation on APM intake nodes.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8178" y="3088481"/>
            <a:ext cx="476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0966" y="3707606"/>
            <a:ext cx="1590675" cy="2381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29234" y="4021931"/>
            <a:ext cx="305428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Poppins"/>
              </a:rPr>
              <a:t>Zero-Trust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1955" y="4355306"/>
            <a:ext cx="290884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Lato"/>
              </a:rPr>
              <a:t>Transition to full Zero-Trust data governance with immutable logging and automated compliance audits.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49673" y="3231356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0601" y="3231356"/>
            <a:ext cx="19050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46766" y="3231356"/>
            <a:ext cx="219075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7262" y="485775"/>
            <a:ext cx="11186398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Phased Remediation Roadmap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47975"/>
            <a:ext cx="5372100" cy="2019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847975"/>
            <a:ext cx="5372100" cy="2019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410325"/>
            <a:ext cx="110299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95312"/>
            <a:ext cx="195262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515100"/>
            <a:ext cx="2200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DMZ-to-LAN APM Bridge Security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20450" y="6515100"/>
            <a:ext cx="390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Lato"/>
              </a:rPr>
              <a:t>Slide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086100"/>
            <a:ext cx="479059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Operational Constraints &amp; Trade-offs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1325" y="3086100"/>
            <a:ext cx="481060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F1F5F9"/>
                </a:solidFill>
                <a:latin typeface="Poppins SemiBold"/>
              </a:rPr>
              <a:t>Thinking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8450" y="3581400"/>
            <a:ext cx="472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38BDF8"/>
                </a:solidFill>
                <a:latin typeface="Lato"/>
              </a:rPr>
              <a:t> "Application monitoring is frequently viewed as a benign operational asset. However, cross-domain telemetry streams represent high-value attack vectors. Securing monitoring channels is just as critical as securing public application endpoints."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05575" y="3581400"/>
            <a:ext cx="28575" cy="914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133725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3925" y="34861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3486150"/>
            <a:ext cx="47053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Lato"/>
              </a:rPr>
              <a:t>Latency Overhead: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Deep schema inspection and mTLS handshakes introduce processing latency that must be optimized.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057650"/>
            <a:ext cx="85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4057650"/>
            <a:ext cx="4705350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Lato"/>
              </a:rPr>
              <a:t>Unidirectional Limits: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Strict push rules prevent the central APM console from remotely reconfiguring DMZ probes.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3133725"/>
            <a:ext cx="190500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0587" y="485775"/>
            <a:ext cx="11256406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Architectural Reflection &amp; Lessons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